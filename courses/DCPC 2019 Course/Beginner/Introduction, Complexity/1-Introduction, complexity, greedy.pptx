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60" r:id="rId2"/>
    <p:sldId id="256" r:id="rId3"/>
    <p:sldId id="257" r:id="rId4"/>
    <p:sldId id="261" r:id="rId5"/>
    <p:sldId id="258" r:id="rId6"/>
    <p:sldId id="262" r:id="rId7"/>
    <p:sldId id="263" r:id="rId8"/>
    <p:sldId id="264" r:id="rId9"/>
    <p:sldId id="266" r:id="rId10"/>
    <p:sldId id="265" r:id="rId11"/>
    <p:sldId id="268"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6" autoAdjust="0"/>
    <p:restoredTop sz="94660"/>
  </p:normalViewPr>
  <p:slideViewPr>
    <p:cSldViewPr snapToGrid="0">
      <p:cViewPr>
        <p:scale>
          <a:sx n="75" d="100"/>
          <a:sy n="75" d="100"/>
        </p:scale>
        <p:origin x="1176" y="3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2/5/2019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2D3E9E-A95C-48F2-B4BF-A71542E0BE9A}" type="datetimeFigureOut">
              <a:rPr lang="en-US" dirty="0"/>
              <a:t>2/5/2019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2/5/2019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dirty="0"/>
              <a:t>2/5/2019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dirty="0"/>
              <a:t>2/5/2019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dirty="0"/>
              <a:t>2/5/2019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dirty="0"/>
              <a:t>2/5/2019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AF6E2C9B-5FA2-460D-9BE7-B0812FC2A6FF}" type="datetimeFigureOut">
              <a:rPr lang="en-US" dirty="0"/>
              <a:t>2/5/2019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Date Placeholder 8"/>
          <p:cNvSpPr>
            <a:spLocks noGrp="1"/>
          </p:cNvSpPr>
          <p:nvPr>
            <p:ph type="dt" sz="half" idx="10"/>
          </p:nvPr>
        </p:nvSpPr>
        <p:spPr/>
        <p:txBody>
          <a:bodyPr/>
          <a:lstStyle/>
          <a:p>
            <a:fld id="{5586B75A-687E-405C-8A0B-8D00578BA2C3}" type="datetimeFigureOut">
              <a:rPr lang="en-US" dirty="0"/>
              <a:pPr/>
              <a:t>2/5/2019</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dirty="0"/>
              <a:t>2/5/2019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dirty="0"/>
              <a:t>2/5/2019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586B75A-687E-405C-8A0B-8D00578BA2C3}" type="datetimeFigureOut">
              <a:rPr lang="en-US" dirty="0"/>
              <a:pPr/>
              <a:t>2/5/2019</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4FAB73BC-B049-4115-A692-8D63A059BFB8}"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accent1"/>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75000"/>
              <a:lumOff val="2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65000"/>
              <a:lumOff val="3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1726296"/>
          </a:xfrm>
        </p:spPr>
        <p:txBody>
          <a:bodyPr/>
          <a:lstStyle/>
          <a:p>
            <a:pPr algn="ctr"/>
            <a:r>
              <a:rPr lang="en-US" sz="7200" b="1" dirty="0"/>
              <a:t>Introduction</a:t>
            </a:r>
            <a:br>
              <a:rPr lang="en-US" sz="7200" b="1" dirty="0"/>
            </a:br>
            <a:r>
              <a:rPr lang="en-US" sz="7200" b="1" dirty="0"/>
              <a:t>Complexity and Greedy</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299317"/>
            <a:ext cx="11068768" cy="3553479"/>
          </a:xfrm>
        </p:spPr>
        <p:txBody>
          <a:bodyPr>
            <a:normAutofit lnSpcReduction="10000"/>
          </a:bodyPr>
          <a:lstStyle/>
          <a:p>
            <a:pPr algn="ctr"/>
            <a:endParaRPr lang="en-US" dirty="0"/>
          </a:p>
          <a:p>
            <a:pPr algn="ctr"/>
            <a:endParaRPr lang="en-US" dirty="0"/>
          </a:p>
          <a:p>
            <a:pPr algn="ctr"/>
            <a:r>
              <a:rPr lang="en-US" sz="4400" dirty="0"/>
              <a:t>Presented by: </a:t>
            </a:r>
          </a:p>
          <a:p>
            <a:pPr algn="ctr"/>
            <a:r>
              <a:rPr lang="en-US" sz="4000" b="1" dirty="0"/>
              <a:t>Mohammad </a:t>
            </a:r>
            <a:r>
              <a:rPr lang="en-US" sz="4000" b="1" dirty="0" err="1"/>
              <a:t>Shahhoud</a:t>
            </a:r>
            <a:endParaRPr lang="en-US" sz="4000" b="1" dirty="0"/>
          </a:p>
          <a:p>
            <a:pPr algn="ctr"/>
            <a:endParaRPr lang="en-US" dirty="0"/>
          </a:p>
          <a:p>
            <a:r>
              <a:rPr lang="en-US" sz="2400" dirty="0"/>
              <a:t>Damascus-CPC Training 2019</a:t>
            </a:r>
          </a:p>
        </p:txBody>
      </p:sp>
    </p:spTree>
    <p:extLst>
      <p:ext uri="{BB962C8B-B14F-4D97-AF65-F5344CB8AC3E}">
        <p14:creationId xmlns:p14="http://schemas.microsoft.com/office/powerpoint/2010/main" val="231210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1371600"/>
            <a:ext cx="10782300" cy="816745"/>
          </a:xfrm>
        </p:spPr>
        <p:txBody>
          <a:bodyPr/>
          <a:lstStyle/>
          <a:p>
            <a:pPr algn="ctr"/>
            <a:r>
              <a:rPr lang="en-US" sz="6000" b="1" dirty="0"/>
              <a:t>What is ACM?</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733041"/>
            <a:ext cx="11068768" cy="3667760"/>
          </a:xfrm>
        </p:spPr>
        <p:txBody>
          <a:bodyPr>
            <a:normAutofit/>
          </a:bodyPr>
          <a:lstStyle/>
          <a:p>
            <a:pPr marL="457200" indent="-457200">
              <a:buFontTx/>
              <a:buChar char="-"/>
            </a:pPr>
            <a:r>
              <a:rPr lang="en-US" dirty="0"/>
              <a:t>Contests, from local to international contests.</a:t>
            </a:r>
          </a:p>
          <a:p>
            <a:pPr marL="457200" indent="-457200">
              <a:buFontTx/>
              <a:buChar char="-"/>
            </a:pPr>
            <a:r>
              <a:rPr lang="en-US" dirty="0"/>
              <a:t>IMPORTANT or NOT IMPORTANT?</a:t>
            </a:r>
          </a:p>
          <a:p>
            <a:pPr marL="457200" indent="-457200">
              <a:buFontTx/>
              <a:buChar char="-"/>
            </a:pPr>
            <a:r>
              <a:rPr lang="en-US" dirty="0"/>
              <a:t>Why do we all have to learn algorithms and data-structures?</a:t>
            </a:r>
          </a:p>
          <a:p>
            <a:pPr marL="457200" indent="-457200">
              <a:buFontTx/>
              <a:buChar char="-"/>
            </a:pPr>
            <a:r>
              <a:rPr lang="en-US" dirty="0"/>
              <a:t>Differences between learning ACM algorithms and university algorithms.</a:t>
            </a:r>
          </a:p>
          <a:p>
            <a:pPr marL="457200" indent="-457200">
              <a:buFontTx/>
              <a:buChar char="-"/>
            </a:pPr>
            <a:r>
              <a:rPr lang="en-US" dirty="0"/>
              <a:t>Past, present and future: the journey of Syrian and Damascus teams.</a:t>
            </a:r>
          </a:p>
          <a:p>
            <a:pPr marL="457200" indent="-457200">
              <a:buFontTx/>
              <a:buChar char="-"/>
            </a:pPr>
            <a:endParaRPr lang="en-US" dirty="0"/>
          </a:p>
          <a:p>
            <a:pPr marL="457200" indent="-457200">
              <a:buFontTx/>
              <a:buChar char="-"/>
            </a:pPr>
            <a:endParaRPr lang="en-US" dirty="0"/>
          </a:p>
          <a:p>
            <a:endParaRPr lang="en-US" dirty="0"/>
          </a:p>
        </p:txBody>
      </p:sp>
    </p:spTree>
    <p:extLst>
      <p:ext uri="{BB962C8B-B14F-4D97-AF65-F5344CB8AC3E}">
        <p14:creationId xmlns:p14="http://schemas.microsoft.com/office/powerpoint/2010/main" val="1292579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1726296"/>
          </a:xfrm>
        </p:spPr>
        <p:txBody>
          <a:bodyPr/>
          <a:lstStyle/>
          <a:p>
            <a:pPr algn="ctr"/>
            <a:r>
              <a:rPr lang="en-US" sz="6000" b="1" dirty="0"/>
              <a:t>Practice makes perfect</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299317"/>
            <a:ext cx="11068768" cy="4055763"/>
          </a:xfrm>
        </p:spPr>
        <p:txBody>
          <a:bodyPr>
            <a:normAutofit lnSpcReduction="10000"/>
          </a:bodyPr>
          <a:lstStyle/>
          <a:p>
            <a:pPr marL="457200" indent="-457200">
              <a:buFontTx/>
              <a:buChar char="-"/>
            </a:pPr>
            <a:r>
              <a:rPr lang="en-US" dirty="0"/>
              <a:t>What tools do we need to enter ACM world?</a:t>
            </a:r>
          </a:p>
          <a:p>
            <a:pPr marL="457200" indent="-457200">
              <a:buFontTx/>
              <a:buChar char="-"/>
            </a:pPr>
            <a:r>
              <a:rPr lang="en-US" dirty="0"/>
              <a:t>How many hours do we need to be good at this?</a:t>
            </a:r>
          </a:p>
          <a:p>
            <a:pPr marL="457200" indent="-457200">
              <a:buFontTx/>
              <a:buChar char="-"/>
            </a:pPr>
            <a:r>
              <a:rPr lang="en-US" dirty="0"/>
              <a:t>What types of algorithms will you learn through this journey?</a:t>
            </a:r>
          </a:p>
          <a:p>
            <a:pPr marL="457200" indent="-457200">
              <a:buFontTx/>
              <a:buChar char="-"/>
            </a:pPr>
            <a:r>
              <a:rPr lang="en-US" dirty="0"/>
              <a:t>What sites, videos and books do you need through this journey?</a:t>
            </a:r>
          </a:p>
          <a:p>
            <a:pPr marL="457200" indent="-457200">
              <a:buFontTx/>
              <a:buChar char="-"/>
            </a:pPr>
            <a:r>
              <a:rPr lang="en-US" dirty="0"/>
              <a:t>What is the basic and MOST IMPORTANT concepts and algorithms do we have to know to be able to continue?</a:t>
            </a:r>
          </a:p>
          <a:p>
            <a:pPr marL="457200" indent="-457200">
              <a:buFontTx/>
              <a:buChar char="-"/>
            </a:pPr>
            <a:r>
              <a:rPr lang="en-US" dirty="0"/>
              <a:t>Questions?</a:t>
            </a:r>
          </a:p>
        </p:txBody>
      </p:sp>
    </p:spTree>
    <p:extLst>
      <p:ext uri="{BB962C8B-B14F-4D97-AF65-F5344CB8AC3E}">
        <p14:creationId xmlns:p14="http://schemas.microsoft.com/office/powerpoint/2010/main" val="2218926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4783288"/>
          </a:xfrm>
        </p:spPr>
        <p:txBody>
          <a:bodyPr/>
          <a:lstStyle/>
          <a:p>
            <a:pPr algn="ctr"/>
            <a:r>
              <a:rPr lang="en-US" b="1" dirty="0"/>
              <a:t>Let’s Start This Journey</a:t>
            </a:r>
            <a:br>
              <a:rPr lang="en-US" dirty="0"/>
            </a:br>
            <a:r>
              <a:rPr lang="en-US" dirty="0"/>
              <a:t>Ready right?</a:t>
            </a:r>
            <a:br>
              <a:rPr lang="en-US" dirty="0"/>
            </a:br>
            <a:endParaRPr lang="en-US" dirty="0"/>
          </a:p>
        </p:txBody>
      </p:sp>
    </p:spTree>
    <p:extLst>
      <p:ext uri="{BB962C8B-B14F-4D97-AF65-F5344CB8AC3E}">
        <p14:creationId xmlns:p14="http://schemas.microsoft.com/office/powerpoint/2010/main" val="3811869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1726296"/>
          </a:xfrm>
        </p:spPr>
        <p:txBody>
          <a:bodyPr/>
          <a:lstStyle/>
          <a:p>
            <a:pPr algn="ctr"/>
            <a:r>
              <a:rPr lang="en-US" sz="6000" dirty="0"/>
              <a:t>Complexity</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299317"/>
            <a:ext cx="11068768" cy="3553479"/>
          </a:xfrm>
        </p:spPr>
        <p:txBody>
          <a:bodyPr/>
          <a:lstStyle/>
          <a:p>
            <a:pPr marL="457200" indent="-457200">
              <a:buFont typeface="Arial" panose="020B0604020202020204" pitchFamily="34" charset="0"/>
              <a:buChar char="•"/>
            </a:pPr>
            <a:r>
              <a:rPr lang="en-US" dirty="0"/>
              <a:t>What is complexity?</a:t>
            </a:r>
          </a:p>
          <a:p>
            <a:pPr marL="457200" indent="-457200">
              <a:buFont typeface="Arial" panose="020B0604020202020204" pitchFamily="34" charset="0"/>
              <a:buChar char="•"/>
            </a:pPr>
            <a:r>
              <a:rPr lang="en-US" dirty="0"/>
              <a:t>Complexity, not only for ACM, it’s for the world!!</a:t>
            </a:r>
          </a:p>
          <a:p>
            <a:pPr marL="457200" indent="-457200">
              <a:buFont typeface="Arial" panose="020B0604020202020204" pitchFamily="34" charset="0"/>
              <a:buChar char="•"/>
            </a:pPr>
            <a:r>
              <a:rPr lang="en-US" dirty="0"/>
              <a:t>Why do we HAVE TO learn complexity?</a:t>
            </a:r>
          </a:p>
          <a:p>
            <a:pPr marL="457200" indent="-457200">
              <a:buFont typeface="Arial" panose="020B0604020202020204" pitchFamily="34" charset="0"/>
              <a:buChar char="•"/>
            </a:pPr>
            <a:r>
              <a:rPr lang="en-US" dirty="0"/>
              <a:t>Be curious: ask for any code and algorithm complexity, don’t be shy </a:t>
            </a:r>
            <a:r>
              <a:rPr lang="en-US" dirty="0">
                <a:sym typeface="Wingdings" panose="05000000000000000000" pitchFamily="2" charset="2"/>
              </a:rPr>
              <a:t> </a:t>
            </a:r>
            <a:endParaRPr lang="en-US" dirty="0"/>
          </a:p>
        </p:txBody>
      </p:sp>
    </p:spTree>
    <p:extLst>
      <p:ext uri="{BB962C8B-B14F-4D97-AF65-F5344CB8AC3E}">
        <p14:creationId xmlns:p14="http://schemas.microsoft.com/office/powerpoint/2010/main" val="4257889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1726296"/>
          </a:xfrm>
        </p:spPr>
        <p:txBody>
          <a:bodyPr/>
          <a:lstStyle/>
          <a:p>
            <a:pPr algn="ctr"/>
            <a:r>
              <a:rPr lang="en-US" sz="6000" dirty="0"/>
              <a:t>Complexity</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299317"/>
            <a:ext cx="11068768" cy="3553479"/>
          </a:xfrm>
        </p:spPr>
        <p:txBody>
          <a:bodyPr/>
          <a:lstStyle/>
          <a:p>
            <a:pPr marL="457200" indent="-457200">
              <a:buFont typeface="Arial" panose="020B0604020202020204" pitchFamily="34" charset="0"/>
              <a:buChar char="•"/>
            </a:pPr>
            <a:r>
              <a:rPr lang="en-US" dirty="0"/>
              <a:t>What is worst case and O notation?</a:t>
            </a:r>
          </a:p>
          <a:p>
            <a:pPr marL="457200" indent="-457200">
              <a:buFont typeface="Arial" panose="020B0604020202020204" pitchFamily="34" charset="0"/>
              <a:buChar char="•"/>
            </a:pPr>
            <a:r>
              <a:rPr lang="en-US" dirty="0"/>
              <a:t>Complexity:  </a:t>
            </a:r>
            <a:br>
              <a:rPr lang="en-US" dirty="0"/>
            </a:br>
            <a:r>
              <a:rPr lang="en-US" dirty="0"/>
              <a:t>O(1) and constant complexity.</a:t>
            </a:r>
            <a:br>
              <a:rPr lang="en-US" dirty="0"/>
            </a:br>
            <a:r>
              <a:rPr lang="en-US" dirty="0"/>
              <a:t>O(N) and linear complexity.</a:t>
            </a:r>
            <a:br>
              <a:rPr lang="en-US" dirty="0"/>
            </a:br>
            <a:r>
              <a:rPr lang="en-US" dirty="0"/>
              <a:t>O(</a:t>
            </a:r>
            <a:r>
              <a:rPr lang="en-US" dirty="0" err="1"/>
              <a:t>N</a:t>
            </a:r>
            <a:r>
              <a:rPr lang="en-US" baseline="30000" dirty="0" err="1"/>
              <a:t>x</a:t>
            </a:r>
            <a:r>
              <a:rPr lang="en-US" dirty="0"/>
              <a:t>)</a:t>
            </a:r>
            <a:br>
              <a:rPr lang="en-US" dirty="0"/>
            </a:br>
            <a:r>
              <a:rPr lang="en-US" dirty="0"/>
              <a:t>O(Log</a:t>
            </a:r>
            <a:r>
              <a:rPr lang="en-US" baseline="-25000" dirty="0"/>
              <a:t>2</a:t>
            </a:r>
            <a:r>
              <a:rPr lang="en-US" dirty="0"/>
              <a:t>(N))</a:t>
            </a:r>
            <a:br>
              <a:rPr lang="en-US" dirty="0"/>
            </a:br>
            <a:r>
              <a:rPr lang="en-US" dirty="0"/>
              <a:t>O(2</a:t>
            </a:r>
            <a:r>
              <a:rPr lang="en-US" baseline="30000" dirty="0"/>
              <a:t>x</a:t>
            </a:r>
            <a:r>
              <a:rPr lang="en-US" dirty="0"/>
              <a:t>)</a:t>
            </a:r>
            <a:endParaRPr lang="en-US" baseline="30000" dirty="0"/>
          </a:p>
        </p:txBody>
      </p:sp>
    </p:spTree>
    <p:extLst>
      <p:ext uri="{BB962C8B-B14F-4D97-AF65-F5344CB8AC3E}">
        <p14:creationId xmlns:p14="http://schemas.microsoft.com/office/powerpoint/2010/main" val="2002305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1726296"/>
          </a:xfrm>
        </p:spPr>
        <p:txBody>
          <a:bodyPr/>
          <a:lstStyle/>
          <a:p>
            <a:pPr algn="ctr"/>
            <a:r>
              <a:rPr lang="en-US" sz="6000" dirty="0"/>
              <a:t>Greedy</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299317"/>
            <a:ext cx="11068768" cy="3553479"/>
          </a:xfrm>
        </p:spPr>
        <p:txBody>
          <a:bodyPr>
            <a:normAutofit fontScale="92500"/>
          </a:bodyPr>
          <a:lstStyle/>
          <a:p>
            <a:pPr marL="457200" indent="-457200">
              <a:buFont typeface="Arial" panose="020B0604020202020204" pitchFamily="34" charset="0"/>
              <a:buChar char="•"/>
            </a:pPr>
            <a:r>
              <a:rPr lang="en-US" dirty="0"/>
              <a:t>Greedy is one of the most important algorithms and it’s a very simple and easy to learn concept.</a:t>
            </a:r>
          </a:p>
          <a:p>
            <a:pPr marL="457200" indent="-457200">
              <a:buFont typeface="Arial" panose="020B0604020202020204" pitchFamily="34" charset="0"/>
              <a:buChar char="•"/>
            </a:pPr>
            <a:r>
              <a:rPr lang="en-US" dirty="0"/>
              <a:t>Greedy is simple: Take some path and go with it seeking for optimality (This is not going to happen all the time :D ).</a:t>
            </a:r>
          </a:p>
          <a:p>
            <a:pPr marL="457200" indent="-457200">
              <a:buFont typeface="Arial" panose="020B0604020202020204" pitchFamily="34" charset="0"/>
              <a:buChar char="•"/>
            </a:pPr>
            <a:r>
              <a:rPr lang="en-US" dirty="0"/>
              <a:t>Greedy concepts can be proven mathematically that it’s true, but we don’t care about that prove inside the real contest because it’s wasting time, anyway it’s a good idea to think about the prove after the contest or after solving some greedy problem!</a:t>
            </a:r>
          </a:p>
          <a:p>
            <a:endParaRPr lang="en-US" baseline="30000" dirty="0"/>
          </a:p>
        </p:txBody>
      </p:sp>
    </p:spTree>
    <p:extLst>
      <p:ext uri="{BB962C8B-B14F-4D97-AF65-F5344CB8AC3E}">
        <p14:creationId xmlns:p14="http://schemas.microsoft.com/office/powerpoint/2010/main" val="675242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1726296"/>
          </a:xfrm>
        </p:spPr>
        <p:txBody>
          <a:bodyPr/>
          <a:lstStyle/>
          <a:p>
            <a:pPr algn="ctr"/>
            <a:r>
              <a:rPr lang="en-US" sz="6000" dirty="0"/>
              <a:t>Greedy, Good or Bad</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299317"/>
            <a:ext cx="11068768" cy="3553479"/>
          </a:xfrm>
        </p:spPr>
        <p:txBody>
          <a:bodyPr>
            <a:normAutofit fontScale="85000" lnSpcReduction="20000"/>
          </a:bodyPr>
          <a:lstStyle/>
          <a:p>
            <a:pPr marL="457200" indent="-457200">
              <a:buFont typeface="Arial" panose="020B0604020202020204" pitchFamily="34" charset="0"/>
              <a:buChar char="•"/>
            </a:pPr>
            <a:r>
              <a:rPr lang="en-US" dirty="0"/>
              <a:t>Greedy is good for some reasons; greedy ideas can be coded in small number of lines with easy way to code.</a:t>
            </a:r>
          </a:p>
          <a:p>
            <a:pPr marL="457200" indent="-457200">
              <a:buFont typeface="Arial" panose="020B0604020202020204" pitchFamily="34" charset="0"/>
              <a:buChar char="•"/>
            </a:pPr>
            <a:r>
              <a:rPr lang="en-US" dirty="0"/>
              <a:t>Good STL knowledge is needed for greedy problems.</a:t>
            </a:r>
          </a:p>
          <a:p>
            <a:pPr marL="457200" indent="-457200">
              <a:buFont typeface="Arial" panose="020B0604020202020204" pitchFamily="34" charset="0"/>
              <a:buChar char="•"/>
            </a:pPr>
            <a:r>
              <a:rPr lang="en-US" dirty="0"/>
              <a:t>On the other hand, greedy is bad because we can’t admit that the current algorithm that we write is going to pass the tests and get ACCEPTED, because we can’t prove that inside the contest time.</a:t>
            </a:r>
          </a:p>
          <a:p>
            <a:pPr marL="457200" indent="-457200">
              <a:buFont typeface="Arial" panose="020B0604020202020204" pitchFamily="34" charset="0"/>
              <a:buChar char="•"/>
            </a:pPr>
            <a:r>
              <a:rPr lang="en-US" dirty="0"/>
              <a:t>But don’t worry, we sometimes think about </a:t>
            </a:r>
            <a:r>
              <a:rPr lang="en-US" dirty="0" err="1"/>
              <a:t>bruteforce</a:t>
            </a:r>
            <a:r>
              <a:rPr lang="en-US" dirty="0"/>
              <a:t> solutions for the problems that can’t be solved greedily.</a:t>
            </a:r>
          </a:p>
          <a:p>
            <a:pPr marL="457200" indent="-457200">
              <a:buFont typeface="Arial" panose="020B0604020202020204" pitchFamily="34" charset="0"/>
              <a:buChar char="•"/>
            </a:pPr>
            <a:r>
              <a:rPr lang="en-US" dirty="0"/>
              <a:t>Practicing on greedy problems makes you better on deciding whether a problem inside a contest can be solved greedily or not!</a:t>
            </a:r>
          </a:p>
          <a:p>
            <a:pPr marL="457200" indent="-457200">
              <a:buFont typeface="Arial" panose="020B0604020202020204" pitchFamily="34" charset="0"/>
              <a:buChar char="•"/>
            </a:pPr>
            <a:endParaRPr lang="en-US" baseline="30000" dirty="0"/>
          </a:p>
        </p:txBody>
      </p:sp>
    </p:spTree>
    <p:extLst>
      <p:ext uri="{BB962C8B-B14F-4D97-AF65-F5344CB8AC3E}">
        <p14:creationId xmlns:p14="http://schemas.microsoft.com/office/powerpoint/2010/main" val="112067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1726296"/>
          </a:xfrm>
        </p:spPr>
        <p:txBody>
          <a:bodyPr/>
          <a:lstStyle/>
          <a:p>
            <a:pPr algn="ctr"/>
            <a:r>
              <a:rPr lang="en-US" sz="6000" dirty="0"/>
              <a:t>Extra</a:t>
            </a:r>
          </a:p>
        </p:txBody>
      </p:sp>
      <p:sp>
        <p:nvSpPr>
          <p:cNvPr id="3" name="Subtitle 2">
            <a:extLst>
              <a:ext uri="{FF2B5EF4-FFF2-40B4-BE49-F238E27FC236}">
                <a16:creationId xmlns:a16="http://schemas.microsoft.com/office/drawing/2014/main" id="{7EAD3315-9E8A-4182-AA15-1AB49A60433D}"/>
              </a:ext>
            </a:extLst>
          </p:cNvPr>
          <p:cNvSpPr>
            <a:spLocks noGrp="1"/>
          </p:cNvSpPr>
          <p:nvPr>
            <p:ph type="subTitle" idx="1"/>
          </p:nvPr>
        </p:nvSpPr>
        <p:spPr>
          <a:xfrm>
            <a:off x="667512" y="2702560"/>
            <a:ext cx="11068768" cy="3150236"/>
          </a:xfrm>
        </p:spPr>
        <p:txBody>
          <a:bodyPr>
            <a:normAutofit/>
          </a:bodyPr>
          <a:lstStyle/>
          <a:p>
            <a:pPr marL="457200" indent="-457200">
              <a:buFont typeface="Arial" panose="020B0604020202020204" pitchFamily="34" charset="0"/>
              <a:buChar char="•"/>
            </a:pPr>
            <a:r>
              <a:rPr lang="en-US" baseline="30000" dirty="0"/>
              <a:t>ASK in Binary Search lecture for Accumulative sum , it’ IMPORTANT.</a:t>
            </a:r>
          </a:p>
        </p:txBody>
      </p:sp>
    </p:spTree>
    <p:extLst>
      <p:ext uri="{BB962C8B-B14F-4D97-AF65-F5344CB8AC3E}">
        <p14:creationId xmlns:p14="http://schemas.microsoft.com/office/powerpoint/2010/main" val="1586026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3757128"/>
          </a:xfrm>
        </p:spPr>
        <p:txBody>
          <a:bodyPr/>
          <a:lstStyle/>
          <a:p>
            <a:pPr algn="ctr"/>
            <a:br>
              <a:rPr lang="en-US" sz="6000" dirty="0"/>
            </a:br>
            <a:r>
              <a:rPr lang="en-US" sz="6000" dirty="0"/>
              <a:t>Solving Problems</a:t>
            </a:r>
          </a:p>
        </p:txBody>
      </p:sp>
    </p:spTree>
    <p:extLst>
      <p:ext uri="{BB962C8B-B14F-4D97-AF65-F5344CB8AC3E}">
        <p14:creationId xmlns:p14="http://schemas.microsoft.com/office/powerpoint/2010/main" val="1069806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3757128"/>
          </a:xfrm>
        </p:spPr>
        <p:txBody>
          <a:bodyPr/>
          <a:lstStyle/>
          <a:p>
            <a:pPr algn="ctr"/>
            <a:r>
              <a:rPr lang="en-US" sz="6000" dirty="0"/>
              <a:t>Questions?</a:t>
            </a:r>
          </a:p>
        </p:txBody>
      </p:sp>
    </p:spTree>
    <p:extLst>
      <p:ext uri="{BB962C8B-B14F-4D97-AF65-F5344CB8AC3E}">
        <p14:creationId xmlns:p14="http://schemas.microsoft.com/office/powerpoint/2010/main" val="2894618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CC24-AF67-48FD-B055-E372A376B5EB}"/>
              </a:ext>
            </a:extLst>
          </p:cNvPr>
          <p:cNvSpPr>
            <a:spLocks noGrp="1"/>
          </p:cNvSpPr>
          <p:nvPr>
            <p:ph type="ctrTitle"/>
          </p:nvPr>
        </p:nvSpPr>
        <p:spPr>
          <a:xfrm>
            <a:off x="667512" y="337352"/>
            <a:ext cx="10782300" cy="3757128"/>
          </a:xfrm>
        </p:spPr>
        <p:txBody>
          <a:bodyPr/>
          <a:lstStyle/>
          <a:p>
            <a:pPr algn="ctr"/>
            <a:r>
              <a:rPr lang="en-US" sz="6000" dirty="0"/>
              <a:t>Hope you enjoyed</a:t>
            </a:r>
            <a:br>
              <a:rPr lang="en-US" sz="6000" dirty="0"/>
            </a:br>
            <a:r>
              <a:rPr lang="en-US" sz="6000" dirty="0"/>
              <a:t>Good luck</a:t>
            </a:r>
          </a:p>
        </p:txBody>
      </p:sp>
    </p:spTree>
    <p:extLst>
      <p:ext uri="{BB962C8B-B14F-4D97-AF65-F5344CB8AC3E}">
        <p14:creationId xmlns:p14="http://schemas.microsoft.com/office/powerpoint/2010/main" val="191788649"/>
      </p:ext>
    </p:extLst>
  </p:cSld>
  <p:clrMapOvr>
    <a:masterClrMapping/>
  </p:clrMapOvr>
</p:sld>
</file>

<file path=ppt/theme/theme1.xml><?xml version="1.0" encoding="utf-8"?>
<a:theme xmlns:a="http://schemas.openxmlformats.org/drawingml/2006/main" name="Metropolitan">
  <a:themeElements>
    <a:clrScheme name="Metropolitan">
      <a:dk1>
        <a:srgbClr val="000000"/>
      </a:dk1>
      <a:lt1>
        <a:srgbClr val="FFFFFF"/>
      </a:lt1>
      <a:dk2>
        <a:srgbClr val="303034"/>
      </a:dk2>
      <a:lt2>
        <a:srgbClr val="DFDFE4"/>
      </a:lt2>
      <a:accent1>
        <a:srgbClr val="00AEEF"/>
      </a:accent1>
      <a:accent2>
        <a:srgbClr val="8CC600"/>
      </a:accent2>
      <a:accent3>
        <a:srgbClr val="FFBE00"/>
      </a:accent3>
      <a:accent4>
        <a:srgbClr val="FF0097"/>
      </a:accent4>
      <a:accent5>
        <a:srgbClr val="0071BC"/>
      </a:accent5>
      <a:accent6>
        <a:srgbClr val="FF8600"/>
      </a:accent6>
      <a:hlink>
        <a:srgbClr val="2424F0"/>
      </a:hlink>
      <a:folHlink>
        <a:srgbClr val="80808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9FF7CA0D-8839-4012-B51C-B152F9BD654A}"/>
    </a:ext>
  </a:extLst>
</a:theme>
</file>

<file path=docProps/app.xml><?xml version="1.0" encoding="utf-8"?>
<Properties xmlns="http://schemas.openxmlformats.org/officeDocument/2006/extended-properties" xmlns:vt="http://schemas.openxmlformats.org/officeDocument/2006/docPropsVTypes">
  <Template/>
  <TotalTime>45</TotalTime>
  <Words>416</Words>
  <Application>Microsoft Office PowerPoint</Application>
  <PresentationFormat>Widescreen</PresentationFormat>
  <Paragraphs>45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 Light</vt:lpstr>
      <vt:lpstr>Metropolitan</vt:lpstr>
      <vt:lpstr>Introduction Complexity and Greedy</vt:lpstr>
      <vt:lpstr>What is ACM?</vt:lpstr>
      <vt:lpstr>Practice makes perfect</vt:lpstr>
      <vt:lpstr>Let’s Start This Journey Ready right? </vt:lpstr>
      <vt:lpstr>Complexity</vt:lpstr>
      <vt:lpstr>Complexity</vt:lpstr>
      <vt:lpstr>Greedy</vt:lpstr>
      <vt:lpstr>Greedy, Good or Bad</vt:lpstr>
      <vt:lpstr>Extra</vt:lpstr>
      <vt:lpstr> Solving Problems</vt:lpstr>
      <vt:lpstr>Questions?</vt:lpstr>
      <vt:lpstr>Hope you enjoyed Good luck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Complexity and Greedy</dc:title>
  <dc:creator>Mhammad1</dc:creator>
  <cp:lastModifiedBy>Mhammad1</cp:lastModifiedBy>
  <cp:revision>6</cp:revision>
  <dcterms:created xsi:type="dcterms:W3CDTF">2019-02-05T04:35:54Z</dcterms:created>
  <dcterms:modified xsi:type="dcterms:W3CDTF">2019-02-05T05:21:48Z</dcterms:modified>
</cp:coreProperties>
</file>